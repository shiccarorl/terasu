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63" r:id="rId4"/>
    <p:sldId id="258" r:id="rId5"/>
    <p:sldId id="271" r:id="rId6"/>
    <p:sldId id="259" r:id="rId7"/>
    <p:sldId id="268" r:id="rId8"/>
    <p:sldId id="260" r:id="rId9"/>
    <p:sldId id="261" r:id="rId10"/>
    <p:sldId id="270" r:id="rId11"/>
    <p:sldId id="269" r:id="rId12"/>
  </p:sldIdLst>
  <p:sldSz cx="6858000" cy="9906000" type="A4"/>
  <p:notesSz cx="6858000" cy="99456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318" y="-5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26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96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16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19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742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04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28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45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190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01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64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5DCF8-3B15-4FD7-AE3E-260C98715A19}" type="datetimeFigureOut">
              <a:rPr kumimoji="1" lang="ja-JP" altLang="en-US" smtClean="0"/>
              <a:t>2020/10/28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0C64A-7D69-431C-8C2A-783B024C6C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378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rder-rp.rms.rakuten.co.jp/order-rb/individual-order-detail-sc/init?orderNumber=246369-20201020-00026711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42900" y="381000"/>
            <a:ext cx="161454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>
                <a:ea typeface="ＭＳ Ｐゴシック"/>
              </a:rPr>
              <a:t>売上チェック表</a:t>
            </a:r>
            <a:endParaRPr kumimoji="1" lang="ja-JP" altLang="en-US">
              <a:ea typeface="ＭＳ Ｐゴシック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67640" y="1074420"/>
            <a:ext cx="627607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指示フェーズ</a:t>
            </a:r>
            <a:endParaRPr kumimoji="1" lang="en-US" altLang="ja-JP" sz="1200" dirty="0"/>
          </a:p>
          <a:p>
            <a:r>
              <a:rPr kumimoji="1" lang="en-US" altLang="ja-JP" sz="1200" dirty="0"/>
              <a:t>	</a:t>
            </a:r>
            <a:r>
              <a:rPr kumimoji="1" lang="ja-JP" altLang="en-US" sz="1200" dirty="0"/>
              <a:t>１、メールチェック</a:t>
            </a:r>
            <a:endParaRPr kumimoji="1"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２、商品が０になった事の</a:t>
            </a:r>
            <a:r>
              <a:rPr lang="ja-JP" altLang="en-US" sz="1200" dirty="0" smtClean="0"/>
              <a:t>処理（メール・楽天・アマゾン）</a:t>
            </a:r>
            <a:endParaRPr lang="en-US" altLang="ja-JP" sz="1200" dirty="0" smtClean="0"/>
          </a:p>
          <a:p>
            <a:r>
              <a:rPr lang="en-US" altLang="ja-JP" sz="1200" dirty="0"/>
              <a:t>	</a:t>
            </a:r>
            <a:r>
              <a:rPr lang="ja-JP" altLang="en-US" sz="1200" dirty="0" smtClean="0"/>
              <a:t>　　</a:t>
            </a:r>
            <a:r>
              <a:rPr lang="ja-JP" altLang="en-US" sz="1200" dirty="0"/>
              <a:t>楽天とアマゾンの在庫をチェック</a:t>
            </a:r>
            <a:r>
              <a:rPr lang="ja-JP" altLang="en-US" sz="1200" dirty="0" smtClean="0"/>
              <a:t>する</a:t>
            </a:r>
            <a:endParaRPr lang="en-US" altLang="ja-JP" sz="1200" dirty="0" smtClean="0"/>
          </a:p>
          <a:p>
            <a:r>
              <a:rPr kumimoji="1" lang="en-US" altLang="ja-JP" sz="1200" dirty="0"/>
              <a:t>	</a:t>
            </a:r>
            <a:r>
              <a:rPr kumimoji="1" lang="ja-JP" altLang="en-US" sz="1200" dirty="0" smtClean="0"/>
              <a:t>　　</a:t>
            </a:r>
            <a:r>
              <a:rPr lang="en-US" altLang="ja-JP" sz="1200" dirty="0" smtClean="0"/>
              <a:t>B</a:t>
            </a:r>
            <a:r>
              <a:rPr lang="ja-JP" altLang="en-US" sz="1200" dirty="0" smtClean="0"/>
              <a:t>品が売れた時の処理</a:t>
            </a:r>
            <a:endParaRPr lang="en-US" altLang="ja-JP" sz="1200" dirty="0" smtClean="0"/>
          </a:p>
          <a:p>
            <a:r>
              <a:rPr kumimoji="1" lang="en-US" altLang="ja-JP" sz="1200" dirty="0"/>
              <a:t>	</a:t>
            </a:r>
            <a:r>
              <a:rPr kumimoji="1" lang="ja-JP" altLang="en-US" sz="1200" dirty="0" smtClean="0"/>
              <a:t>　　</a:t>
            </a:r>
            <a:endParaRPr lang="en-US" altLang="ja-JP" sz="1200" dirty="0"/>
          </a:p>
          <a:p>
            <a:r>
              <a:rPr lang="ja-JP" altLang="en-US" sz="1200" dirty="0"/>
              <a:t>売上管理フェーズ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３、メール処理（ラクマ・ヤフオク）（在庫管理表）</a:t>
            </a:r>
            <a:endParaRPr lang="en-US" altLang="ja-JP" sz="1200" dirty="0"/>
          </a:p>
          <a:p>
            <a:r>
              <a:rPr kumimoji="1" lang="en-US" altLang="ja-JP" sz="1200" dirty="0"/>
              <a:t>	</a:t>
            </a:r>
            <a:r>
              <a:rPr kumimoji="1" lang="ja-JP" altLang="en-US" sz="1200" dirty="0"/>
              <a:t>４、楽天</a:t>
            </a:r>
            <a:r>
              <a:rPr lang="ja-JP" altLang="en-US" sz="1200" dirty="0"/>
              <a:t>（在庫管理表）</a:t>
            </a:r>
            <a:endParaRPr kumimoji="1"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５、アマゾン（在庫管理表）</a:t>
            </a:r>
            <a:endParaRPr lang="en-US" altLang="ja-JP" sz="1200" dirty="0"/>
          </a:p>
          <a:p>
            <a:endParaRPr lang="en-US" altLang="ja-JP" sz="1200" dirty="0"/>
          </a:p>
          <a:p>
            <a:r>
              <a:rPr lang="ja-JP" altLang="en-US" sz="1200" dirty="0"/>
              <a:t>在庫管理フェーズ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６、販売コードから売れた個数をマイナスしていく（照合用棚卸表）</a:t>
            </a:r>
            <a:endParaRPr lang="en-US" altLang="ja-JP" sz="1200" dirty="0"/>
          </a:p>
          <a:p>
            <a:endParaRPr lang="en-US" altLang="ja-JP" sz="1200" dirty="0"/>
          </a:p>
          <a:p>
            <a:r>
              <a:rPr lang="ja-JP" altLang="en-US" sz="1200" dirty="0"/>
              <a:t>仕入れ値管理フェーズ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７、下代が消費税８％か１０％なのかを調べる。色を変えておく。（照合用棚卸表）</a:t>
            </a:r>
            <a:endParaRPr lang="en-US" altLang="ja-JP" sz="1200" dirty="0"/>
          </a:p>
          <a:p>
            <a:endParaRPr lang="en-US" altLang="ja-JP" sz="1200" dirty="0"/>
          </a:p>
          <a:p>
            <a:r>
              <a:rPr lang="ja-JP" altLang="en-US" sz="1200" dirty="0"/>
              <a:t>仕入れ管理フェーズ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８、売上の分「棚卸」にコピー</a:t>
            </a:r>
            <a:endParaRPr lang="en-US" altLang="ja-JP" sz="1200" dirty="0"/>
          </a:p>
          <a:p>
            <a:endParaRPr lang="en-US" altLang="ja-JP" sz="1200" dirty="0"/>
          </a:p>
          <a:p>
            <a:r>
              <a:rPr lang="ja-JP" altLang="en-US" sz="1200" dirty="0"/>
              <a:t>（在庫管理表）</a:t>
            </a:r>
            <a:r>
              <a:rPr lang="ja-JP" altLang="en-US" sz="1200" dirty="0" smtClean="0"/>
              <a:t>完成</a:t>
            </a:r>
            <a:endParaRPr lang="en-US" altLang="ja-JP" sz="1200" dirty="0" smtClean="0"/>
          </a:p>
          <a:p>
            <a:r>
              <a:rPr lang="en-US" altLang="ja-JP" sz="1200" dirty="0"/>
              <a:t>	</a:t>
            </a:r>
            <a:r>
              <a:rPr lang="ja-JP" altLang="en-US" sz="1200" dirty="0" smtClean="0"/>
              <a:t>９、ラクマは再登録する</a:t>
            </a:r>
            <a:endParaRPr lang="en-US" altLang="ja-JP" sz="1200" dirty="0"/>
          </a:p>
        </p:txBody>
      </p:sp>
      <p:pic>
        <p:nvPicPr>
          <p:cNvPr id="2" name="図 1" descr="アプリケーション, テーブル, Excel&#10;&#10;説明は自動で生成されたものです">
            <a:extLst>
              <a:ext uri="{FF2B5EF4-FFF2-40B4-BE49-F238E27FC236}">
                <a16:creationId xmlns="" xmlns:a16="http://schemas.microsoft.com/office/drawing/2014/main" id="{EA560760-023B-4451-A529-706843B08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22160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2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222"/>
            <a:ext cx="6858000" cy="3857625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93363" y="1752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在庫表の入力方法①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58850" y="4819650"/>
            <a:ext cx="253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基本的に入力するところ</a:t>
            </a:r>
          </a:p>
        </p:txBody>
      </p:sp>
      <p:cxnSp>
        <p:nvCxnSpPr>
          <p:cNvPr id="8" name="直線矢印コネクタ 7"/>
          <p:cNvCxnSpPr/>
          <p:nvPr/>
        </p:nvCxnSpPr>
        <p:spPr>
          <a:xfrm flipH="1" flipV="1">
            <a:off x="787400" y="3867150"/>
            <a:ext cx="406400" cy="95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 flipV="1">
            <a:off x="1593850" y="3949700"/>
            <a:ext cx="3409950" cy="869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flipH="1" flipV="1">
            <a:off x="3491917" y="3949701"/>
            <a:ext cx="391692" cy="2337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034970" y="6169803"/>
            <a:ext cx="23166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このファイルの管理が</a:t>
            </a:r>
            <a:endParaRPr kumimoji="1" lang="en-US" altLang="ja-JP" dirty="0"/>
          </a:p>
          <a:p>
            <a:r>
              <a:rPr lang="ja-JP" altLang="en-US" dirty="0"/>
              <a:t>一番大事</a:t>
            </a:r>
            <a:endParaRPr lang="en-US" altLang="ja-JP" dirty="0"/>
          </a:p>
          <a:p>
            <a:r>
              <a:rPr kumimoji="1" lang="ja-JP" altLang="en-US" dirty="0"/>
              <a:t>タイトルが在庫管理表</a:t>
            </a:r>
            <a:endParaRPr kumimoji="1" lang="en-US" altLang="ja-JP" dirty="0"/>
          </a:p>
          <a:p>
            <a:r>
              <a:rPr lang="ja-JP" altLang="en-US" dirty="0"/>
              <a:t>だけど、実際の数は</a:t>
            </a:r>
            <a:endParaRPr lang="en-US" altLang="ja-JP" dirty="0"/>
          </a:p>
          <a:p>
            <a:r>
              <a:rPr kumimoji="1" lang="ja-JP" altLang="en-US" dirty="0"/>
              <a:t>違うことがある。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65018" y="5640779"/>
            <a:ext cx="2513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ラクマだけ計算式が違う</a:t>
            </a:r>
            <a:endParaRPr kumimoji="1" lang="en-US" altLang="ja-JP" dirty="0"/>
          </a:p>
          <a:p>
            <a:r>
              <a:rPr lang="ja-JP" altLang="en-US" dirty="0"/>
              <a:t>後は</a:t>
            </a:r>
            <a:r>
              <a:rPr kumimoji="1" lang="ja-JP" altLang="en-US" dirty="0"/>
              <a:t>引き算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 flipH="1" flipV="1">
            <a:off x="6181725" y="3810000"/>
            <a:ext cx="76200" cy="1238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4393870" y="5004316"/>
            <a:ext cx="24144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太い線で囲まれたのは</a:t>
            </a:r>
            <a:endParaRPr kumimoji="1" lang="en-US" altLang="ja-JP" dirty="0"/>
          </a:p>
          <a:p>
            <a:r>
              <a:rPr lang="ja-JP" altLang="en-US" dirty="0"/>
              <a:t>同梱のしるし</a:t>
            </a:r>
            <a:endParaRPr lang="en-US" altLang="ja-JP" dirty="0"/>
          </a:p>
          <a:p>
            <a:r>
              <a:rPr kumimoji="1" lang="ja-JP" altLang="en-US" dirty="0"/>
              <a:t>計算式が違う。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665018" y="8304786"/>
            <a:ext cx="2847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月末に印刷する</a:t>
            </a:r>
            <a:endParaRPr kumimoji="1" lang="en-US" altLang="ja-JP" dirty="0"/>
          </a:p>
          <a:p>
            <a:r>
              <a:rPr lang="ja-JP" altLang="en-US" dirty="0"/>
              <a:t>灰色のファイルに閉じていく</a:t>
            </a:r>
            <a:endParaRPr kumimoji="1" lang="ja-JP" altLang="en-US" dirty="0"/>
          </a:p>
        </p:txBody>
      </p:sp>
      <p:cxnSp>
        <p:nvCxnSpPr>
          <p:cNvPr id="22" name="直線矢印コネクタ 21"/>
          <p:cNvCxnSpPr/>
          <p:nvPr/>
        </p:nvCxnSpPr>
        <p:spPr>
          <a:xfrm flipH="1">
            <a:off x="3619500" y="359890"/>
            <a:ext cx="508000" cy="1602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/>
          <p:cNvSpPr txBox="1"/>
          <p:nvPr/>
        </p:nvSpPr>
        <p:spPr>
          <a:xfrm>
            <a:off x="4193300" y="35989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下代は「仕入れ値」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5577840" y="2087880"/>
            <a:ext cx="381000" cy="266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/>
          <p:cNvCxnSpPr/>
          <p:nvPr/>
        </p:nvCxnSpPr>
        <p:spPr>
          <a:xfrm flipH="1">
            <a:off x="5760720" y="1348740"/>
            <a:ext cx="594360" cy="6134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393180" y="1188720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ラクマは計算式が違う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5313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222"/>
            <a:ext cx="6858000" cy="3857625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38132" y="1806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在庫表の入力方法②</a:t>
            </a:r>
          </a:p>
        </p:txBody>
      </p:sp>
      <p:cxnSp>
        <p:nvCxnSpPr>
          <p:cNvPr id="7" name="直線矢印コネクタ 6"/>
          <p:cNvCxnSpPr/>
          <p:nvPr/>
        </p:nvCxnSpPr>
        <p:spPr>
          <a:xfrm flipH="1" flipV="1">
            <a:off x="487680" y="3802380"/>
            <a:ext cx="91440" cy="1173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flipH="1" flipV="1">
            <a:off x="800100" y="3802380"/>
            <a:ext cx="251460" cy="1120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flipH="1" flipV="1">
            <a:off x="3307080" y="3413760"/>
            <a:ext cx="266700" cy="1562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flipV="1">
            <a:off x="4701540" y="3589020"/>
            <a:ext cx="373380" cy="16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 flipV="1">
            <a:off x="5966460" y="3543300"/>
            <a:ext cx="525780" cy="12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174397" y="49453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販売日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127760" y="4945380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商品コード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720413" y="4975860"/>
            <a:ext cx="173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写真で判断する</a:t>
            </a:r>
            <a:endParaRPr kumimoji="1" lang="en-US" altLang="ja-JP" dirty="0"/>
          </a:p>
          <a:p>
            <a:r>
              <a:rPr lang="ja-JP" altLang="en-US" dirty="0"/>
              <a:t>こともある</a:t>
            </a:r>
            <a:endParaRPr kumimoji="1" lang="ja-JP" altLang="en-US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133369" y="5189220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売れた金額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367736" y="465857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購入者の名前</a:t>
            </a:r>
          </a:p>
        </p:txBody>
      </p:sp>
      <p:pic>
        <p:nvPicPr>
          <p:cNvPr id="25" name="図 24"/>
          <p:cNvPicPr>
            <a:picLocks noChangeAspect="1"/>
          </p:cNvPicPr>
          <p:nvPr/>
        </p:nvPicPr>
        <p:blipFill rotWithShape="1">
          <a:blip r:embed="rId3"/>
          <a:srcRect t="10666" r="18000" b="4394"/>
          <a:stretch/>
        </p:blipFill>
        <p:spPr>
          <a:xfrm>
            <a:off x="0" y="6629400"/>
            <a:ext cx="5623560" cy="3276600"/>
          </a:xfrm>
          <a:prstGeom prst="rect">
            <a:avLst/>
          </a:prstGeom>
        </p:spPr>
      </p:pic>
      <p:sp>
        <p:nvSpPr>
          <p:cNvPr id="26" name="テキスト ボックス 25"/>
          <p:cNvSpPr txBox="1"/>
          <p:nvPr/>
        </p:nvSpPr>
        <p:spPr>
          <a:xfrm>
            <a:off x="0" y="5831979"/>
            <a:ext cx="5854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今日入力したデータを「棚卸」にコピーしておく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「棚卸」に入力したデーターが「マスターの数量」に影響する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2987040" y="9624060"/>
            <a:ext cx="388620" cy="358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29" name="直線矢印コネクタ 28"/>
          <p:cNvCxnSpPr/>
          <p:nvPr/>
        </p:nvCxnSpPr>
        <p:spPr>
          <a:xfrm flipH="1">
            <a:off x="3375660" y="9348788"/>
            <a:ext cx="2386013" cy="27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138113" y="8567738"/>
            <a:ext cx="5553075" cy="6143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5632133" y="9033748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コピーする</a:t>
            </a: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4304427" y="6470831"/>
            <a:ext cx="262283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在庫がマイナスになったものは、</a:t>
            </a:r>
            <a:endParaRPr kumimoji="1" lang="en-US" altLang="ja-JP" sz="1050" dirty="0"/>
          </a:p>
          <a:p>
            <a:r>
              <a:rPr lang="ja-JP" altLang="en-US" sz="1050" dirty="0"/>
              <a:t>「在庫０調整」で０にしている</a:t>
            </a:r>
            <a:endParaRPr lang="en-US" altLang="ja-JP" sz="1050" dirty="0"/>
          </a:p>
          <a:p>
            <a:r>
              <a:rPr kumimoji="1" lang="ja-JP" altLang="en-US" sz="1050" dirty="0"/>
              <a:t>仕入れの時の仕入れのデータが無いから。</a:t>
            </a:r>
          </a:p>
        </p:txBody>
      </p:sp>
    </p:spTree>
    <p:extLst>
      <p:ext uri="{BB962C8B-B14F-4D97-AF65-F5344CB8AC3E}">
        <p14:creationId xmlns:p14="http://schemas.microsoft.com/office/powerpoint/2010/main" val="2026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2509" y="2968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楽天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047"/>
            <a:ext cx="6858000" cy="3857625"/>
          </a:xfrm>
          <a:prstGeom prst="rect">
            <a:avLst/>
          </a:prstGeom>
        </p:spPr>
      </p:pic>
      <p:cxnSp>
        <p:nvCxnSpPr>
          <p:cNvPr id="5" name="直線矢印コネクタ 4"/>
          <p:cNvCxnSpPr/>
          <p:nvPr/>
        </p:nvCxnSpPr>
        <p:spPr>
          <a:xfrm flipH="1">
            <a:off x="3916680" y="609600"/>
            <a:ext cx="533400" cy="1272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4187"/>
            <a:ext cx="6858000" cy="3857625"/>
          </a:xfrm>
          <a:prstGeom prst="rect">
            <a:avLst/>
          </a:prstGeom>
        </p:spPr>
      </p:pic>
      <p:cxnSp>
        <p:nvCxnSpPr>
          <p:cNvPr id="8" name="直線矢印コネクタ 7"/>
          <p:cNvCxnSpPr/>
          <p:nvPr/>
        </p:nvCxnSpPr>
        <p:spPr>
          <a:xfrm flipH="1" flipV="1">
            <a:off x="1897380" y="5151120"/>
            <a:ext cx="53340" cy="2011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2034540" y="7063740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日付のデータ</a:t>
            </a: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14260"/>
            <a:ext cx="6858000" cy="3857625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978840" y="9304020"/>
            <a:ext cx="2450160" cy="708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/>
          <p:cNvCxnSpPr/>
          <p:nvPr/>
        </p:nvCxnSpPr>
        <p:spPr>
          <a:xfrm flipH="1">
            <a:off x="2804160" y="7246620"/>
            <a:ext cx="1059180" cy="198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916680" y="7162800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販売コードを調べる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5"/>
          <a:srcRect r="86291"/>
          <a:stretch/>
        </p:blipFill>
        <p:spPr>
          <a:xfrm>
            <a:off x="0" y="761046"/>
            <a:ext cx="940130" cy="3857625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-133350" y="1563687"/>
            <a:ext cx="1485900" cy="94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/>
          <p:cNvCxnSpPr/>
          <p:nvPr/>
        </p:nvCxnSpPr>
        <p:spPr>
          <a:xfrm flipH="1">
            <a:off x="689964" y="435126"/>
            <a:ext cx="1268376" cy="991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/>
          <p:cNvSpPr/>
          <p:nvPr/>
        </p:nvSpPr>
        <p:spPr>
          <a:xfrm>
            <a:off x="1835150" y="2178050"/>
            <a:ext cx="1593850" cy="75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/>
          <p:cNvCxnSpPr/>
          <p:nvPr/>
        </p:nvCxnSpPr>
        <p:spPr>
          <a:xfrm flipH="1">
            <a:off x="2324100" y="1635125"/>
            <a:ext cx="480060" cy="542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1463123" y="1419186"/>
            <a:ext cx="349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休みの前から今日までで検索する</a:t>
            </a:r>
            <a:endParaRPr kumimoji="1" lang="ja-JP" altLang="en-US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916680" y="8304490"/>
            <a:ext cx="15343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代引きは</a:t>
            </a:r>
            <a:endParaRPr kumimoji="1" lang="en-US" altLang="ja-JP" dirty="0" smtClean="0">
              <a:solidFill>
                <a:srgbClr val="FF0000"/>
              </a:solidFill>
            </a:endParaRPr>
          </a:p>
          <a:p>
            <a:r>
              <a:rPr lang="ja-JP" altLang="en-US" dirty="0" smtClean="0">
                <a:solidFill>
                  <a:srgbClr val="FF0000"/>
                </a:solidFill>
              </a:rPr>
              <a:t>合計＋代引き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r>
              <a:rPr kumimoji="1" lang="ja-JP" altLang="en-US" dirty="0" smtClean="0">
                <a:solidFill>
                  <a:srgbClr val="FF0000"/>
                </a:solidFill>
              </a:rPr>
              <a:t>＝金額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-133350" y="1441509"/>
            <a:ext cx="1485900" cy="94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1930642" y="2659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二か所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/>
        </p:nvSpPr>
        <p:spPr>
          <a:xfrm>
            <a:off x="4450080" y="8064580"/>
            <a:ext cx="784860" cy="126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911340" y="7162800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たまに後払い決済があるけど</a:t>
            </a:r>
            <a:endParaRPr kumimoji="1" lang="en-US" altLang="ja-JP" dirty="0" smtClean="0"/>
          </a:p>
          <a:p>
            <a:r>
              <a:rPr lang="ja-JP" altLang="en-US" dirty="0"/>
              <a:t>手数料</a:t>
            </a:r>
            <a:r>
              <a:rPr lang="ja-JP" altLang="en-US" dirty="0" smtClean="0"/>
              <a:t>は含めない</a:t>
            </a:r>
            <a:endParaRPr kumimoji="1" lang="ja-JP" altLang="en-US" dirty="0"/>
          </a:p>
        </p:txBody>
      </p:sp>
      <p:cxnSp>
        <p:nvCxnSpPr>
          <p:cNvPr id="24" name="直線矢印コネクタ 23"/>
          <p:cNvCxnSpPr/>
          <p:nvPr/>
        </p:nvCxnSpPr>
        <p:spPr>
          <a:xfrm flipH="1">
            <a:off x="4953181" y="7049452"/>
            <a:ext cx="2293439" cy="974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/>
          <p:cNvSpPr/>
          <p:nvPr/>
        </p:nvSpPr>
        <p:spPr>
          <a:xfrm>
            <a:off x="1714500" y="4629835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ja-JP" u="sng" dirty="0">
                <a:solidFill>
                  <a:srgbClr val="AD5580"/>
                </a:solidFill>
                <a:latin typeface="Arial" panose="020B0604020202020204" pitchFamily="34" charset="0"/>
                <a:hlinkClick r:id="rId6"/>
              </a:rPr>
              <a:t>246369-20201020-00026711</a:t>
            </a:r>
            <a:endParaRPr lang="ja-JP" altLang="en-US" dirty="0">
              <a:solidFill>
                <a:srgbClr val="4D4D4D"/>
              </a:solidFill>
              <a:latin typeface="Arial" panose="020B0604020202020204" pitchFamily="34" charset="0"/>
            </a:endParaRPr>
          </a:p>
          <a:p>
            <a:r>
              <a:rPr lang="ja-JP" altLang="en-US" dirty="0">
                <a:solidFill>
                  <a:srgbClr val="4D4D4D"/>
                </a:solidFill>
                <a:latin typeface="Arial" panose="020B0604020202020204" pitchFamily="34" charset="0"/>
              </a:rPr>
              <a:t> </a:t>
            </a:r>
            <a:endParaRPr lang="ja-JP" altLang="en-US" b="0" i="0" dirty="0">
              <a:solidFill>
                <a:srgbClr val="4D4D4D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64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l="18301" t="14560" r="23922" b="25948"/>
          <a:stretch/>
        </p:blipFill>
        <p:spPr>
          <a:xfrm>
            <a:off x="304799" y="914401"/>
            <a:ext cx="3962401" cy="2294964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04799" y="35858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楽天処理中の時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2362200" y="914401"/>
            <a:ext cx="1114425" cy="7429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3"/>
          <a:srcRect l="32638" t="19137" r="9584" b="31480"/>
          <a:stretch/>
        </p:blipFill>
        <p:spPr>
          <a:xfrm>
            <a:off x="304799" y="3395846"/>
            <a:ext cx="3962401" cy="1905001"/>
          </a:xfrm>
          <a:prstGeom prst="rect">
            <a:avLst/>
          </a:prstGeom>
        </p:spPr>
      </p:pic>
      <p:sp>
        <p:nvSpPr>
          <p:cNvPr id="8" name="正方形/長方形 7"/>
          <p:cNvSpPr/>
          <p:nvPr/>
        </p:nvSpPr>
        <p:spPr>
          <a:xfrm>
            <a:off x="3305175" y="4295775"/>
            <a:ext cx="523875" cy="114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171450" y="2705100"/>
            <a:ext cx="752475" cy="161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933450" y="2809875"/>
            <a:ext cx="2633662" cy="1485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2221410" y="377967"/>
            <a:ext cx="3486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入金まだだけど、入力</a:t>
            </a:r>
            <a:r>
              <a:rPr kumimoji="1" lang="ja-JP" altLang="en-US" dirty="0" err="1" smtClean="0"/>
              <a:t>だ</a:t>
            </a:r>
            <a:r>
              <a:rPr kumimoji="1" lang="ja-JP" altLang="en-US" dirty="0" smtClean="0"/>
              <a:t>けしておく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2362200" y="4295775"/>
            <a:ext cx="520700" cy="114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514850" y="4127500"/>
            <a:ext cx="2157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入力して保留中にも</a:t>
            </a:r>
            <a:endParaRPr kumimoji="1" lang="en-US" altLang="ja-JP" dirty="0" smtClean="0"/>
          </a:p>
          <a:p>
            <a:r>
              <a:rPr kumimoji="1" lang="ja-JP" altLang="en-US" dirty="0" smtClean="0"/>
              <a:t>記入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7836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2509" y="296883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楽天ラクマ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2"/>
          <a:srcRect b="24123"/>
          <a:stretch/>
        </p:blipFill>
        <p:spPr>
          <a:xfrm>
            <a:off x="0" y="799147"/>
            <a:ext cx="6858000" cy="2927033"/>
          </a:xfrm>
          <a:prstGeom prst="rect">
            <a:avLst/>
          </a:prstGeom>
        </p:spPr>
      </p:pic>
      <p:cxnSp>
        <p:nvCxnSpPr>
          <p:cNvPr id="5" name="直線矢印コネクタ 4"/>
          <p:cNvCxnSpPr/>
          <p:nvPr/>
        </p:nvCxnSpPr>
        <p:spPr>
          <a:xfrm flipH="1" flipV="1">
            <a:off x="4373880" y="2262663"/>
            <a:ext cx="891540" cy="1692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5074920" y="39547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日付</a:t>
            </a:r>
          </a:p>
        </p:txBody>
      </p:sp>
      <p:cxnSp>
        <p:nvCxnSpPr>
          <p:cNvPr id="8" name="直線矢印コネクタ 7"/>
          <p:cNvCxnSpPr/>
          <p:nvPr/>
        </p:nvCxnSpPr>
        <p:spPr>
          <a:xfrm flipH="1" flipV="1">
            <a:off x="2933700" y="3429000"/>
            <a:ext cx="167640" cy="1059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2956560" y="45339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購入者名</a:t>
            </a: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 rotWithShape="1">
          <a:blip r:embed="rId3"/>
          <a:srcRect b="35593"/>
          <a:stretch/>
        </p:blipFill>
        <p:spPr>
          <a:xfrm>
            <a:off x="0" y="5082065"/>
            <a:ext cx="6858000" cy="2484596"/>
          </a:xfrm>
          <a:prstGeom prst="rect">
            <a:avLst/>
          </a:prstGeom>
        </p:spPr>
      </p:pic>
      <p:cxnSp>
        <p:nvCxnSpPr>
          <p:cNvPr id="12" name="直線矢印コネクタ 11"/>
          <p:cNvCxnSpPr/>
          <p:nvPr/>
        </p:nvCxnSpPr>
        <p:spPr>
          <a:xfrm flipH="1" flipV="1">
            <a:off x="4457700" y="7094220"/>
            <a:ext cx="1066800" cy="73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5398085" y="7825740"/>
            <a:ext cx="1502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金額</a:t>
            </a:r>
            <a:endParaRPr kumimoji="1" lang="en-US" altLang="ja-JP" dirty="0" smtClean="0"/>
          </a:p>
          <a:p>
            <a:r>
              <a:rPr lang="ja-JP" altLang="en-US" dirty="0"/>
              <a:t>計</a:t>
            </a:r>
            <a:r>
              <a:rPr lang="ja-JP" altLang="en-US" dirty="0" smtClean="0"/>
              <a:t>算式が違う</a:t>
            </a:r>
            <a:endParaRPr kumimoji="1" lang="ja-JP" altLang="en-US" dirty="0"/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 rotWithShape="1">
          <a:blip r:embed="rId4"/>
          <a:srcRect b="50710"/>
          <a:stretch/>
        </p:blipFill>
        <p:spPr>
          <a:xfrm>
            <a:off x="0" y="8628101"/>
            <a:ext cx="6858000" cy="1901429"/>
          </a:xfrm>
          <a:prstGeom prst="rect">
            <a:avLst/>
          </a:prstGeom>
        </p:spPr>
      </p:pic>
      <p:cxnSp>
        <p:nvCxnSpPr>
          <p:cNvPr id="16" name="直線矢印コネクタ 15"/>
          <p:cNvCxnSpPr/>
          <p:nvPr/>
        </p:nvCxnSpPr>
        <p:spPr>
          <a:xfrm flipH="1">
            <a:off x="3733800" y="8382000"/>
            <a:ext cx="137160" cy="716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="" xmlns:a16="http://schemas.microsoft.com/office/drawing/2014/main" id="{3B0154C4-9FD2-4DD7-92D4-E7B01C68EE51}"/>
              </a:ext>
            </a:extLst>
          </p:cNvPr>
          <p:cNvSpPr txBox="1"/>
          <p:nvPr/>
        </p:nvSpPr>
        <p:spPr>
          <a:xfrm>
            <a:off x="3776663" y="8296275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販売コード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024952" y="6259117"/>
            <a:ext cx="2746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ラクマパックを使うときだけ</a:t>
            </a:r>
            <a:endParaRPr kumimoji="1" lang="en-US" altLang="ja-JP" dirty="0" smtClean="0">
              <a:solidFill>
                <a:srgbClr val="FF0000"/>
              </a:solidFill>
            </a:endParaRPr>
          </a:p>
          <a:p>
            <a:r>
              <a:rPr lang="en-US" altLang="ja-JP" dirty="0" smtClean="0">
                <a:solidFill>
                  <a:srgbClr val="FF0000"/>
                </a:solidFill>
              </a:rPr>
              <a:t>-179</a:t>
            </a:r>
            <a:r>
              <a:rPr lang="ja-JP" altLang="en-US" dirty="0" smtClean="0">
                <a:solidFill>
                  <a:srgbClr val="FF0000"/>
                </a:solidFill>
              </a:rPr>
              <a:t>の計算式を使う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1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2509" y="296883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楽天ラクマ②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77240" y="666215"/>
            <a:ext cx="392286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ラクマが売れたらする処理</a:t>
            </a:r>
            <a:endParaRPr kumimoji="1"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商品が売れたら在庫から消えてしまうので、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再出品する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東山さん</a:t>
            </a:r>
            <a:r>
              <a:rPr lang="en-US" altLang="ja-JP" sz="1200" dirty="0"/>
              <a:t>PC</a:t>
            </a:r>
            <a:r>
              <a:rPr lang="ja-JP" altLang="en-US" sz="1200" dirty="0"/>
              <a:t>＞吉本さん</a:t>
            </a:r>
            <a:r>
              <a:rPr lang="en-US" altLang="ja-JP" sz="1200" dirty="0"/>
              <a:t>PC&gt;</a:t>
            </a:r>
            <a:r>
              <a:rPr lang="ja-JP" altLang="en-US" sz="1200" dirty="0"/>
              <a:t>メルカリ＞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商品コードで検索する</a:t>
            </a:r>
            <a:endParaRPr lang="en-US" altLang="ja-JP" sz="1200" dirty="0"/>
          </a:p>
          <a:p>
            <a:r>
              <a:rPr lang="ja-JP" altLang="en-US" sz="1200" dirty="0"/>
              <a:t>出品する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画像を</a:t>
            </a:r>
            <a:r>
              <a:rPr lang="en-US" altLang="ja-JP" sz="1200" dirty="0"/>
              <a:t>D&amp;D</a:t>
            </a:r>
            <a:r>
              <a:rPr lang="ja-JP" altLang="en-US" sz="1200" dirty="0"/>
              <a:t> で持っていく</a:t>
            </a:r>
            <a:endParaRPr lang="en-US" altLang="ja-JP" sz="1200" dirty="0"/>
          </a:p>
          <a:p>
            <a:r>
              <a:rPr lang="en-US" altLang="ja-JP" sz="1200" dirty="0"/>
              <a:t>	Text</a:t>
            </a:r>
            <a:r>
              <a:rPr lang="ja-JP" altLang="en-US" sz="1200" dirty="0"/>
              <a:t>ファイルを開いて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一行目　商品名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２～値段　商品説明文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カテゴリー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送料込み</a:t>
            </a:r>
            <a:endParaRPr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かんたんラクマパック（日本郵便）</a:t>
            </a:r>
            <a:endParaRPr lang="en-US" altLang="ja-JP" sz="1200" dirty="0"/>
          </a:p>
          <a:p>
            <a:r>
              <a:rPr kumimoji="1" lang="en-US" altLang="ja-JP" sz="1200" dirty="0"/>
              <a:t>	</a:t>
            </a:r>
            <a:r>
              <a:rPr kumimoji="1" lang="ja-JP" altLang="en-US" sz="1200" dirty="0"/>
              <a:t>支払後１～２</a:t>
            </a:r>
            <a:r>
              <a:rPr lang="ja-JP" altLang="en-US" sz="1200" dirty="0"/>
              <a:t>日で発送</a:t>
            </a:r>
            <a:endParaRPr lang="en-US" altLang="ja-JP" sz="1200" dirty="0"/>
          </a:p>
          <a:p>
            <a:r>
              <a:rPr kumimoji="1" lang="en-US" altLang="ja-JP" sz="1200" dirty="0"/>
              <a:t>	</a:t>
            </a:r>
            <a:r>
              <a:rPr kumimoji="1" lang="ja-JP" altLang="en-US" sz="1200" dirty="0"/>
              <a:t>奈良県</a:t>
            </a:r>
            <a:endParaRPr kumimoji="1" lang="en-US" altLang="ja-JP" sz="1200" dirty="0"/>
          </a:p>
          <a:p>
            <a:r>
              <a:rPr lang="en-US" altLang="ja-JP" sz="1200" dirty="0"/>
              <a:t>	</a:t>
            </a:r>
            <a:r>
              <a:rPr lang="ja-JP" altLang="en-US" sz="1200" dirty="0"/>
              <a:t>購入申請「なし」</a:t>
            </a:r>
            <a:endParaRPr lang="en-US" altLang="ja-JP" sz="1200" dirty="0"/>
          </a:p>
          <a:p>
            <a:r>
              <a:rPr kumimoji="1" lang="ja-JP" altLang="en-US" sz="1200" dirty="0"/>
              <a:t>在庫が１の時だけ「あり」にする。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789959" y="3892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出品方法</a:t>
            </a:r>
          </a:p>
        </p:txBody>
      </p:sp>
    </p:spTree>
    <p:extLst>
      <p:ext uri="{BB962C8B-B14F-4D97-AF65-F5344CB8AC3E}">
        <p14:creationId xmlns:p14="http://schemas.microsoft.com/office/powerpoint/2010/main" val="243191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2509" y="296883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アマゾン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510639" y="950026"/>
            <a:ext cx="27061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アマゾン出荷済みを見る。</a:t>
            </a:r>
            <a:endParaRPr kumimoji="1" lang="en-US" altLang="ja-JP" dirty="0"/>
          </a:p>
          <a:p>
            <a:r>
              <a:rPr lang="ja-JP" altLang="en-US" dirty="0"/>
              <a:t>売れていたら</a:t>
            </a:r>
            <a:endParaRPr lang="en-US" altLang="ja-JP" dirty="0"/>
          </a:p>
          <a:p>
            <a:r>
              <a:rPr kumimoji="1" lang="ja-JP" altLang="en-US" dirty="0"/>
              <a:t>在庫表に入力する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6660"/>
            <a:ext cx="6858000" cy="3857625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5727700" y="3498850"/>
            <a:ext cx="987425" cy="473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/>
          <p:cNvCxnSpPr/>
          <p:nvPr/>
        </p:nvCxnSpPr>
        <p:spPr>
          <a:xfrm flipH="1" flipV="1">
            <a:off x="6233160" y="3855720"/>
            <a:ext cx="99060" cy="2339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004560" y="6134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注意</a:t>
            </a:r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5875020" y="1744980"/>
            <a:ext cx="571500" cy="1424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727700" y="16687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金額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419100" y="3548063"/>
            <a:ext cx="1071563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/>
          <p:cNvCxnSpPr/>
          <p:nvPr/>
        </p:nvCxnSpPr>
        <p:spPr>
          <a:xfrm flipH="1" flipV="1">
            <a:off x="1114425" y="3714750"/>
            <a:ext cx="114300" cy="2480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931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215"/>
            <a:ext cx="6858000" cy="371475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332509" y="296883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ヤフオク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xmlns="" id="{DAD4F4EA-56C8-411E-AFE7-DD91AD84D0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5650"/>
            <a:ext cx="6858000" cy="3857625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762000" y="4962525"/>
            <a:ext cx="428625" cy="400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723900" y="2762250"/>
            <a:ext cx="610806" cy="114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/>
          <p:cNvCxnSpPr/>
          <p:nvPr/>
        </p:nvCxnSpPr>
        <p:spPr>
          <a:xfrm flipH="1">
            <a:off x="976312" y="2876550"/>
            <a:ext cx="214313" cy="2085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723900" y="5362575"/>
            <a:ext cx="818029" cy="697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-1417678" y="5362575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メールより</a:t>
            </a:r>
            <a:endParaRPr kumimoji="1" lang="ja-JP" altLang="en-US" dirty="0"/>
          </a:p>
        </p:txBody>
      </p:sp>
      <p:cxnSp>
        <p:nvCxnSpPr>
          <p:cNvPr id="11" name="直線矢印コネクタ 10"/>
          <p:cNvCxnSpPr>
            <a:stCxn id="9" idx="3"/>
            <a:endCxn id="7" idx="1"/>
          </p:cNvCxnSpPr>
          <p:nvPr/>
        </p:nvCxnSpPr>
        <p:spPr>
          <a:xfrm>
            <a:off x="-243959" y="5547241"/>
            <a:ext cx="967859" cy="164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/>
          <p:cNvSpPr/>
          <p:nvPr/>
        </p:nvSpPr>
        <p:spPr>
          <a:xfrm>
            <a:off x="2324100" y="2409825"/>
            <a:ext cx="962025" cy="133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2476500" y="2571750"/>
            <a:ext cx="361950" cy="31396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1541929" y="2543175"/>
            <a:ext cx="648821" cy="219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1943100" y="2762250"/>
            <a:ext cx="895350" cy="2200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/>
          <p:cNvSpPr/>
          <p:nvPr/>
        </p:nvSpPr>
        <p:spPr>
          <a:xfrm>
            <a:off x="6315075" y="2349501"/>
            <a:ext cx="409575" cy="412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矢印コネクタ 19"/>
          <p:cNvCxnSpPr>
            <a:stCxn id="18" idx="2"/>
          </p:cNvCxnSpPr>
          <p:nvPr/>
        </p:nvCxnSpPr>
        <p:spPr>
          <a:xfrm flipH="1">
            <a:off x="5918200" y="2762251"/>
            <a:ext cx="601663" cy="2200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/>
          <p:cNvSpPr/>
          <p:nvPr/>
        </p:nvSpPr>
        <p:spPr>
          <a:xfrm>
            <a:off x="5410200" y="5362575"/>
            <a:ext cx="904875" cy="809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282779" y="2968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落札ナビ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5080000" y="2876550"/>
            <a:ext cx="838200" cy="196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/>
          <p:cNvCxnSpPr/>
          <p:nvPr/>
        </p:nvCxnSpPr>
        <p:spPr>
          <a:xfrm>
            <a:off x="4584700" y="1339850"/>
            <a:ext cx="660400" cy="1536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4330700" y="1263650"/>
            <a:ext cx="177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メッセージも見る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/>
        </p:nvSpPr>
        <p:spPr>
          <a:xfrm>
            <a:off x="723900" y="2876550"/>
            <a:ext cx="333375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矢印コネクタ 24"/>
          <p:cNvCxnSpPr>
            <a:endCxn id="10" idx="1"/>
          </p:cNvCxnSpPr>
          <p:nvPr/>
        </p:nvCxnSpPr>
        <p:spPr>
          <a:xfrm>
            <a:off x="1066800" y="3073400"/>
            <a:ext cx="4343400" cy="2693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6981825" y="5362575"/>
            <a:ext cx="27158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rgbClr val="FF0000"/>
                </a:solidFill>
              </a:rPr>
              <a:t>対応終了</a:t>
            </a:r>
            <a:endParaRPr kumimoji="1" lang="en-US" altLang="ja-JP" dirty="0" smtClean="0">
              <a:solidFill>
                <a:srgbClr val="FF0000"/>
              </a:solidFill>
            </a:endParaRPr>
          </a:p>
          <a:p>
            <a:r>
              <a:rPr lang="ja-JP" altLang="en-US" dirty="0" smtClean="0">
                <a:solidFill>
                  <a:srgbClr val="FF0000"/>
                </a:solidFill>
              </a:rPr>
              <a:t>送信済で「発</a:t>
            </a:r>
            <a:r>
              <a:rPr lang="ja-JP" altLang="en-US" dirty="0">
                <a:solidFill>
                  <a:srgbClr val="FF0000"/>
                </a:solidFill>
              </a:rPr>
              <a:t>メール</a:t>
            </a:r>
            <a:r>
              <a:rPr lang="ja-JP" altLang="en-US" dirty="0" smtClean="0">
                <a:solidFill>
                  <a:srgbClr val="FF0000"/>
                </a:solidFill>
              </a:rPr>
              <a:t>」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lang="ja-JP" altLang="en-US" dirty="0" smtClean="0">
                <a:solidFill>
                  <a:srgbClr val="FF0000"/>
                </a:solidFill>
              </a:rPr>
              <a:t>決算</a:t>
            </a:r>
            <a:r>
              <a:rPr lang="en-US" altLang="ja-JP" dirty="0" smtClean="0">
                <a:solidFill>
                  <a:srgbClr val="FF0000"/>
                </a:solidFill>
              </a:rPr>
              <a:t>ID</a:t>
            </a:r>
            <a:r>
              <a:rPr lang="ja-JP" altLang="en-US" dirty="0" smtClean="0">
                <a:solidFill>
                  <a:srgbClr val="FF0000"/>
                </a:solidFill>
              </a:rPr>
              <a:t>で「かんたん」と書く</a:t>
            </a:r>
            <a:endParaRPr kumimoji="1" lang="en-US" altLang="ja-JP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4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xmlns="" id="{5BCAB9D0-D113-4CD2-B7C9-CBAAFCFBB19E}"/>
              </a:ext>
            </a:extLst>
          </p:cNvPr>
          <p:cNvSpPr txBox="1"/>
          <p:nvPr/>
        </p:nvSpPr>
        <p:spPr>
          <a:xfrm>
            <a:off x="408765" y="488604"/>
            <a:ext cx="159229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kumimoji="1" lang="en-US" altLang="ja-JP" dirty="0">
                <a:ea typeface="ＭＳ Ｐゴシック"/>
              </a:rPr>
              <a:t>NOTE</a:t>
            </a:r>
            <a:r>
              <a:rPr kumimoji="1" lang="ja-JP" altLang="en-US" dirty="0">
                <a:ea typeface="ＭＳ Ｐゴシック"/>
              </a:rPr>
              <a:t>の書き方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xmlns="" id="{DAD4F4EA-56C8-411E-AFE7-DD91AD84D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9075"/>
            <a:ext cx="6858000" cy="385762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xmlns="" id="{E96B50C8-5E56-4AC2-9796-FC68A7940FE6}"/>
              </a:ext>
            </a:extLst>
          </p:cNvPr>
          <p:cNvSpPr/>
          <p:nvPr/>
        </p:nvSpPr>
        <p:spPr>
          <a:xfrm>
            <a:off x="762000" y="1924050"/>
            <a:ext cx="442913" cy="352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xmlns="" id="{2B49FC05-3692-4916-BDAA-6DDAB0FF6FC3}"/>
              </a:ext>
            </a:extLst>
          </p:cNvPr>
          <p:cNvSpPr/>
          <p:nvPr/>
        </p:nvSpPr>
        <p:spPr>
          <a:xfrm>
            <a:off x="1281113" y="1857375"/>
            <a:ext cx="465071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xmlns="" id="{70979FA8-B717-4093-9157-B0E34B01F060}"/>
              </a:ext>
            </a:extLst>
          </p:cNvPr>
          <p:cNvSpPr/>
          <p:nvPr/>
        </p:nvSpPr>
        <p:spPr>
          <a:xfrm>
            <a:off x="2590800" y="1857375"/>
            <a:ext cx="776288" cy="314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xmlns="" id="{74C0A326-E7D4-48DA-B470-F2F8498CE04F}"/>
              </a:ext>
            </a:extLst>
          </p:cNvPr>
          <p:cNvSpPr/>
          <p:nvPr/>
        </p:nvSpPr>
        <p:spPr>
          <a:xfrm>
            <a:off x="3429000" y="1924050"/>
            <a:ext cx="1128713" cy="314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xmlns="" id="{789DEB0B-C99E-4F2A-A360-A6C0F77CF2A2}"/>
              </a:ext>
            </a:extLst>
          </p:cNvPr>
          <p:cNvSpPr/>
          <p:nvPr/>
        </p:nvSpPr>
        <p:spPr>
          <a:xfrm>
            <a:off x="685800" y="2324100"/>
            <a:ext cx="238125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xmlns="" id="{7B58C659-00A5-4826-8A63-1C2DA7E530D4}"/>
              </a:ext>
            </a:extLst>
          </p:cNvPr>
          <p:cNvSpPr/>
          <p:nvPr/>
        </p:nvSpPr>
        <p:spPr>
          <a:xfrm>
            <a:off x="762000" y="2438401"/>
            <a:ext cx="628650" cy="539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xmlns="" id="{B565B94A-0A4D-4272-926B-E3059D6CB8DE}"/>
              </a:ext>
            </a:extLst>
          </p:cNvPr>
          <p:cNvSpPr/>
          <p:nvPr/>
        </p:nvSpPr>
        <p:spPr>
          <a:xfrm>
            <a:off x="2324100" y="2628900"/>
            <a:ext cx="909638" cy="244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xmlns="" id="{2252125B-4AF7-4CC4-9282-EC6D06F6FB80}"/>
              </a:ext>
            </a:extLst>
          </p:cNvPr>
          <p:cNvSpPr/>
          <p:nvPr/>
        </p:nvSpPr>
        <p:spPr>
          <a:xfrm>
            <a:off x="5262563" y="1857375"/>
            <a:ext cx="561975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xmlns="" id="{4F1C9E69-26A9-4B76-ACE2-03174120F15D}"/>
              </a:ext>
            </a:extLst>
          </p:cNvPr>
          <p:cNvSpPr/>
          <p:nvPr/>
        </p:nvSpPr>
        <p:spPr>
          <a:xfrm>
            <a:off x="5391150" y="2324100"/>
            <a:ext cx="909638" cy="338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xmlns="" id="{1DF87345-E45F-452E-824D-54FA7F40F3B2}"/>
              </a:ext>
            </a:extLst>
          </p:cNvPr>
          <p:cNvSpPr/>
          <p:nvPr/>
        </p:nvSpPr>
        <p:spPr>
          <a:xfrm>
            <a:off x="5448300" y="2733675"/>
            <a:ext cx="852488" cy="338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xmlns="" id="{629A793E-38AC-4F05-A7F3-10BA88709133}"/>
              </a:ext>
            </a:extLst>
          </p:cNvPr>
          <p:cNvSpPr/>
          <p:nvPr/>
        </p:nvSpPr>
        <p:spPr>
          <a:xfrm>
            <a:off x="4338638" y="2276475"/>
            <a:ext cx="495300" cy="396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xmlns="" id="{CEE2300B-EA00-4E62-8F28-ABF941DD3E5B}"/>
              </a:ext>
            </a:extLst>
          </p:cNvPr>
          <p:cNvCxnSpPr/>
          <p:nvPr/>
        </p:nvCxnSpPr>
        <p:spPr>
          <a:xfrm>
            <a:off x="5162550" y="1314450"/>
            <a:ext cx="228600" cy="495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38B08751-C50F-4D72-9807-10593B0ECCC9}"/>
              </a:ext>
            </a:extLst>
          </p:cNvPr>
          <p:cNvSpPr txBox="1"/>
          <p:nvPr/>
        </p:nvSpPr>
        <p:spPr>
          <a:xfrm>
            <a:off x="4937180" y="1135105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金額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xmlns="" id="{3FEEAB6A-6144-418A-914D-436B8E69D670}"/>
              </a:ext>
            </a:extLst>
          </p:cNvPr>
          <p:cNvCxnSpPr>
            <a:cxnSpLocks/>
          </p:cNvCxnSpPr>
          <p:nvPr/>
        </p:nvCxnSpPr>
        <p:spPr>
          <a:xfrm flipH="1">
            <a:off x="2771775" y="1380054"/>
            <a:ext cx="187160" cy="4773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xmlns="" id="{32080C8D-2FA8-4903-8428-B82BA8A4E02D}"/>
              </a:ext>
            </a:extLst>
          </p:cNvPr>
          <p:cNvCxnSpPr/>
          <p:nvPr/>
        </p:nvCxnSpPr>
        <p:spPr>
          <a:xfrm>
            <a:off x="3490914" y="1404938"/>
            <a:ext cx="125477" cy="495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xmlns="" id="{E8F4A6CC-4A02-4507-8601-C999655EDAD4}"/>
              </a:ext>
            </a:extLst>
          </p:cNvPr>
          <p:cNvCxnSpPr/>
          <p:nvPr/>
        </p:nvCxnSpPr>
        <p:spPr>
          <a:xfrm flipH="1">
            <a:off x="1466850" y="1195388"/>
            <a:ext cx="171450" cy="6619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xmlns="" id="{4E55C554-BA11-4188-A7AB-E47FF09B1DBF}"/>
              </a:ext>
            </a:extLst>
          </p:cNvPr>
          <p:cNvCxnSpPr/>
          <p:nvPr/>
        </p:nvCxnSpPr>
        <p:spPr>
          <a:xfrm>
            <a:off x="342900" y="1081086"/>
            <a:ext cx="328612" cy="12430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xmlns="" id="{8A88DBFB-E155-4B83-91F9-FF9217D790B0}"/>
              </a:ext>
            </a:extLst>
          </p:cNvPr>
          <p:cNvCxnSpPr/>
          <p:nvPr/>
        </p:nvCxnSpPr>
        <p:spPr>
          <a:xfrm flipH="1" flipV="1">
            <a:off x="2771775" y="2873375"/>
            <a:ext cx="719139" cy="29464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xmlns="" id="{DEEB1A64-A148-444D-BD51-6FE33E528CAB}"/>
              </a:ext>
            </a:extLst>
          </p:cNvPr>
          <p:cNvSpPr txBox="1"/>
          <p:nvPr/>
        </p:nvSpPr>
        <p:spPr>
          <a:xfrm>
            <a:off x="1356516" y="1060534"/>
            <a:ext cx="7857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販売サイト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xmlns="" id="{DE640693-3D51-499A-994B-A09D127870F2}"/>
              </a:ext>
            </a:extLst>
          </p:cNvPr>
          <p:cNvSpPr txBox="1"/>
          <p:nvPr/>
        </p:nvSpPr>
        <p:spPr>
          <a:xfrm>
            <a:off x="3405593" y="5863515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購入者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xmlns="" id="{F8A58211-74EE-43B0-B6B4-8D1CFF7BCB99}"/>
              </a:ext>
            </a:extLst>
          </p:cNvPr>
          <p:cNvSpPr txBox="1"/>
          <p:nvPr/>
        </p:nvSpPr>
        <p:spPr>
          <a:xfrm>
            <a:off x="2609163" y="1062163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商品名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xmlns="" id="{7FB1BF93-D7C8-40B2-93AE-A92DBF57F0A0}"/>
              </a:ext>
            </a:extLst>
          </p:cNvPr>
          <p:cNvSpPr txBox="1"/>
          <p:nvPr/>
        </p:nvSpPr>
        <p:spPr>
          <a:xfrm>
            <a:off x="3342587" y="1215274"/>
            <a:ext cx="8098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販売コード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xmlns="" id="{CE5307F7-1896-4375-A97B-9417ABD6DFF8}"/>
              </a:ext>
            </a:extLst>
          </p:cNvPr>
          <p:cNvSpPr txBox="1"/>
          <p:nvPr/>
        </p:nvSpPr>
        <p:spPr>
          <a:xfrm>
            <a:off x="136472" y="184833"/>
            <a:ext cx="42021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dirty="0" smtClean="0">
                <a:ea typeface="ＭＳ Ｐゴシック"/>
              </a:rPr>
              <a:t>ラクマ・ヤフオクの売り上げの入力方</a:t>
            </a:r>
            <a:endParaRPr lang="en-US" altLang="ja-JP" dirty="0">
              <a:ea typeface="ＭＳ Ｐゴシック"/>
              <a:cs typeface="Calibri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xmlns="" id="{DEEB1A64-A148-444D-BD51-6FE33E528CAB}"/>
              </a:ext>
            </a:extLst>
          </p:cNvPr>
          <p:cNvSpPr txBox="1"/>
          <p:nvPr/>
        </p:nvSpPr>
        <p:spPr>
          <a:xfrm>
            <a:off x="-14258" y="878714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 smtClean="0"/>
              <a:t>送信日</a:t>
            </a:r>
            <a:endParaRPr kumimoji="1" lang="ja-JP" altLang="en-US" sz="1050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3"/>
          <a:srcRect l="29375" t="55769" r="30764"/>
          <a:stretch/>
        </p:blipFill>
        <p:spPr>
          <a:xfrm>
            <a:off x="16668" y="5703145"/>
            <a:ext cx="2733676" cy="1643063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001060" y="6112668"/>
            <a:ext cx="589740" cy="168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/>
          <p:cNvCxnSpPr>
            <a:stCxn id="5" idx="0"/>
          </p:cNvCxnSpPr>
          <p:nvPr/>
        </p:nvCxnSpPr>
        <p:spPr>
          <a:xfrm flipH="1" flipV="1">
            <a:off x="1155056" y="2276475"/>
            <a:ext cx="1140874" cy="38361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/>
          <p:cNvSpPr/>
          <p:nvPr/>
        </p:nvSpPr>
        <p:spPr>
          <a:xfrm>
            <a:off x="3342587" y="2733675"/>
            <a:ext cx="809837" cy="2444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矢印コネクタ 26"/>
          <p:cNvCxnSpPr/>
          <p:nvPr/>
        </p:nvCxnSpPr>
        <p:spPr>
          <a:xfrm flipH="1" flipV="1">
            <a:off x="3477386" y="2978151"/>
            <a:ext cx="76266" cy="28035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flipV="1">
            <a:off x="1552575" y="2673351"/>
            <a:ext cx="4321969" cy="4222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/>
          <p:cNvCxnSpPr/>
          <p:nvPr/>
        </p:nvCxnSpPr>
        <p:spPr>
          <a:xfrm flipV="1">
            <a:off x="1638300" y="3071813"/>
            <a:ext cx="4186238" cy="38242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/>
          <p:cNvSpPr txBox="1"/>
          <p:nvPr/>
        </p:nvSpPr>
        <p:spPr>
          <a:xfrm>
            <a:off x="1466850" y="7029450"/>
            <a:ext cx="2459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メッセージから判断する</a:t>
            </a:r>
            <a:endParaRPr kumimoji="1" lang="ja-JP" altLang="en-US" dirty="0"/>
          </a:p>
        </p:txBody>
      </p:sp>
      <p:pic>
        <p:nvPicPr>
          <p:cNvPr id="39" name="図 38"/>
          <p:cNvPicPr>
            <a:picLocks noChangeAspect="1"/>
          </p:cNvPicPr>
          <p:nvPr/>
        </p:nvPicPr>
        <p:blipFill rotWithShape="1">
          <a:blip r:embed="rId4"/>
          <a:srcRect l="28472" t="38718" r="28472" b="18205"/>
          <a:stretch/>
        </p:blipFill>
        <p:spPr>
          <a:xfrm>
            <a:off x="76199" y="7812882"/>
            <a:ext cx="2952751" cy="1600201"/>
          </a:xfrm>
          <a:prstGeom prst="rect">
            <a:avLst/>
          </a:prstGeom>
        </p:spPr>
      </p:pic>
      <p:sp>
        <p:nvSpPr>
          <p:cNvPr id="40" name="テキスト ボックス 39"/>
          <p:cNvSpPr txBox="1"/>
          <p:nvPr/>
        </p:nvSpPr>
        <p:spPr>
          <a:xfrm>
            <a:off x="3028950" y="8661400"/>
            <a:ext cx="3456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ゆうパケット</a:t>
            </a:r>
            <a:endParaRPr kumimoji="1" lang="en-US" altLang="ja-JP" dirty="0" smtClean="0"/>
          </a:p>
          <a:p>
            <a:r>
              <a:rPr lang="ja-JP" altLang="en-US" dirty="0" smtClean="0"/>
              <a:t>ゆうパック　　値段が違うので注意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/>
        </p:nvSpPr>
        <p:spPr>
          <a:xfrm>
            <a:off x="408765" y="8566150"/>
            <a:ext cx="2245535" cy="234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矢印コネクタ 45"/>
          <p:cNvCxnSpPr>
            <a:stCxn id="40" idx="1"/>
          </p:cNvCxnSpPr>
          <p:nvPr/>
        </p:nvCxnSpPr>
        <p:spPr>
          <a:xfrm flipH="1" flipV="1">
            <a:off x="2654300" y="8661400"/>
            <a:ext cx="374650" cy="3231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図 19"/>
          <p:cNvPicPr>
            <a:picLocks noChangeAspect="1"/>
          </p:cNvPicPr>
          <p:nvPr/>
        </p:nvPicPr>
        <p:blipFill rotWithShape="1">
          <a:blip r:embed="rId5"/>
          <a:srcRect r="32288" b="60806"/>
          <a:stretch/>
        </p:blipFill>
        <p:spPr>
          <a:xfrm>
            <a:off x="3153819" y="7444852"/>
            <a:ext cx="3360238" cy="1094064"/>
          </a:xfrm>
          <a:prstGeom prst="rect">
            <a:avLst/>
          </a:prstGeom>
        </p:spPr>
      </p:pic>
      <p:sp>
        <p:nvSpPr>
          <p:cNvPr id="23" name="正方形/長方形 22"/>
          <p:cNvSpPr/>
          <p:nvPr/>
        </p:nvSpPr>
        <p:spPr>
          <a:xfrm>
            <a:off x="4219575" y="7346208"/>
            <a:ext cx="438150" cy="3023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657725" y="7029450"/>
            <a:ext cx="130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ラクマの</a:t>
            </a:r>
            <a:r>
              <a:rPr kumimoji="1" lang="en-US" altLang="ja-JP" dirty="0" smtClean="0"/>
              <a:t>ID</a:t>
            </a:r>
            <a:endParaRPr kumimoji="1" lang="ja-JP" altLang="en-US" dirty="0"/>
          </a:p>
        </p:txBody>
      </p:sp>
      <p:cxnSp>
        <p:nvCxnSpPr>
          <p:cNvPr id="31" name="直線矢印コネクタ 30"/>
          <p:cNvCxnSpPr>
            <a:stCxn id="25" idx="1"/>
            <a:endCxn id="23" idx="0"/>
          </p:cNvCxnSpPr>
          <p:nvPr/>
        </p:nvCxnSpPr>
        <p:spPr>
          <a:xfrm flipH="1">
            <a:off x="4438650" y="7214116"/>
            <a:ext cx="219075" cy="1320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282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b="34790"/>
          <a:stretch/>
        </p:blipFill>
        <p:spPr>
          <a:xfrm>
            <a:off x="0" y="395287"/>
            <a:ext cx="6858000" cy="2515553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06680" y="685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下代検索</a:t>
            </a:r>
            <a:endParaRPr kumimoji="1" lang="ja-JP" altLang="en-US" dirty="0"/>
          </a:p>
        </p:txBody>
      </p:sp>
      <p:cxnSp>
        <p:nvCxnSpPr>
          <p:cNvPr id="9" name="直線矢印コネクタ 8"/>
          <p:cNvCxnSpPr/>
          <p:nvPr/>
        </p:nvCxnSpPr>
        <p:spPr>
          <a:xfrm flipV="1">
            <a:off x="3185160" y="2423160"/>
            <a:ext cx="99060" cy="601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2235158" y="3017043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個数を入力</a:t>
            </a: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3"/>
          <a:srcRect b="36463"/>
          <a:stretch/>
        </p:blipFill>
        <p:spPr>
          <a:xfrm>
            <a:off x="0" y="3492579"/>
            <a:ext cx="6858000" cy="2451022"/>
          </a:xfrm>
          <a:prstGeom prst="rect">
            <a:avLst/>
          </a:prstGeom>
        </p:spPr>
      </p:pic>
      <p:cxnSp>
        <p:nvCxnSpPr>
          <p:cNvPr id="13" name="直線矢印コネクタ 12"/>
          <p:cNvCxnSpPr/>
          <p:nvPr/>
        </p:nvCxnSpPr>
        <p:spPr>
          <a:xfrm flipH="1">
            <a:off x="3185160" y="3131343"/>
            <a:ext cx="1760220" cy="1202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920490" y="2986055"/>
            <a:ext cx="2683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消費税？％で仕入れたか</a:t>
            </a:r>
            <a:endParaRPr kumimoji="1" lang="en-US" altLang="ja-JP" dirty="0"/>
          </a:p>
          <a:p>
            <a:r>
              <a:rPr lang="ja-JP" altLang="en-US" dirty="0"/>
              <a:t>調べる</a:t>
            </a:r>
            <a:endParaRPr kumimoji="1" lang="ja-JP" altLang="en-US" dirty="0"/>
          </a:p>
        </p:txBody>
      </p:sp>
      <p:cxnSp>
        <p:nvCxnSpPr>
          <p:cNvPr id="20" name="直線矢印コネクタ 19"/>
          <p:cNvCxnSpPr/>
          <p:nvPr/>
        </p:nvCxnSpPr>
        <p:spPr>
          <a:xfrm flipV="1">
            <a:off x="1821180" y="5890260"/>
            <a:ext cx="137160" cy="327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1699260" y="6120171"/>
            <a:ext cx="2618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売れた分の個数を減らす</a:t>
            </a:r>
          </a:p>
        </p:txBody>
      </p:sp>
      <p:sp>
        <p:nvSpPr>
          <p:cNvPr id="22" name="正方形/長方形 21"/>
          <p:cNvSpPr/>
          <p:nvPr/>
        </p:nvSpPr>
        <p:spPr>
          <a:xfrm>
            <a:off x="-40273" y="589026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/>
              <a:t>（照合用棚卸表）</a:t>
            </a:r>
            <a:endParaRPr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="" xmlns:a16="http://schemas.microsoft.com/office/drawing/2014/main" id="{32DE5C89-2B4B-4244-9FA3-C07284375CF8}"/>
              </a:ext>
            </a:extLst>
          </p:cNvPr>
          <p:cNvSpPr txBox="1"/>
          <p:nvPr/>
        </p:nvSpPr>
        <p:spPr>
          <a:xfrm>
            <a:off x="1821180" y="670083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基本は「先入れ先出」法</a:t>
            </a:r>
          </a:p>
        </p:txBody>
      </p:sp>
    </p:spTree>
    <p:extLst>
      <p:ext uri="{BB962C8B-B14F-4D97-AF65-F5344CB8AC3E}">
        <p14:creationId xmlns:p14="http://schemas.microsoft.com/office/powerpoint/2010/main" val="227234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2563</TotalTime>
  <Words>350</Words>
  <Application>Microsoft Office PowerPoint</Application>
  <PresentationFormat>A4 210 x 297 mm</PresentationFormat>
  <Paragraphs>129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JS_PC1</dc:creator>
  <cp:lastModifiedBy>JS_PC1</cp:lastModifiedBy>
  <cp:revision>125</cp:revision>
  <cp:lastPrinted>2020-10-03T08:59:24Z</cp:lastPrinted>
  <dcterms:created xsi:type="dcterms:W3CDTF">2020-10-01T01:43:23Z</dcterms:created>
  <dcterms:modified xsi:type="dcterms:W3CDTF">2020-10-28T01:40:54Z</dcterms:modified>
</cp:coreProperties>
</file>